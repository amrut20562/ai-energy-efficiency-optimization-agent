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91" r:id="rId9"/>
    <p:sldId id="292" r:id="rId10"/>
    <p:sldId id="262" r:id="rId11"/>
    <p:sldId id="264" r:id="rId12"/>
    <p:sldId id="286" r:id="rId13"/>
    <p:sldId id="287" r:id="rId14"/>
    <p:sldId id="280" r:id="rId15"/>
    <p:sldId id="288" r:id="rId16"/>
    <p:sldId id="289" r:id="rId17"/>
    <p:sldId id="276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  <p1510:client id="{CF376E3E-16AD-B220-DB03-D7511C5FAE25}" v="445" dt="2026-06-19T10:18:38.869"/>
    <p1510:client id="{E27D249D-B118-0810-7731-E1B1C378D9D3}" v="5" dt="2026-06-19T09:10:10.538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FD84428-22E9-69BE-1247-DAC9A4F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B494818E-35DC-30D6-D810-BD81142A85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DFC07E38-1A67-9960-37C7-6BAD9D76F0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03208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Cloud and Orchestrate</a:t>
            </a:r>
            <a:r>
              <a:rPr lang="en-US" b="1" i="1" dirty="0"/>
              <a:t>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1394325619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Amrut Pramod More</a:t>
                      </a:r>
                      <a:endParaRPr sz="1600"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amrut20262+ibm@gmail.com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7028616375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98" name="Google Shape;9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53024" y="3738417"/>
            <a:ext cx="762500" cy="80181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US" sz="2400" b="1" dirty="0">
                <a:highlight>
                  <a:srgbClr val="FFFF00"/>
                </a:highlight>
              </a:rPr>
              <a:t> </a:t>
            </a:r>
            <a:r>
              <a:rPr lang="en-IN" sz="2400" b="1" dirty="0">
                <a:highlight>
                  <a:srgbClr val="FFFF00"/>
                </a:highlight>
              </a:rPr>
              <a:t>Mechanical</a:t>
            </a:r>
            <a:r>
              <a:rPr lang="en-IN" sz="2400" dirty="0">
                <a:highlight>
                  <a:srgbClr val="FFFF00"/>
                </a:highlight>
              </a:rPr>
              <a:t> </a:t>
            </a:r>
            <a:r>
              <a:rPr lang="en-US" sz="2400" b="1" dirty="0">
                <a:highlight>
                  <a:srgbClr val="FFFF00"/>
                </a:highlight>
              </a:rPr>
              <a:t>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297932" y="588572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1800" b="1" dirty="0">
                <a:highlight>
                  <a:srgbClr val="FFFF00"/>
                </a:highlight>
              </a:rPr>
              <a:t>AI Energy Efficiency Optimization Agent</a:t>
            </a:r>
            <a:endParaRPr lang="en-IN" b="1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F78423-E61B-027A-194E-480B8DB83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3024" y="3592014"/>
            <a:ext cx="842653" cy="10325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Nutrition Agent</a:t>
            </a:r>
            <a:r>
              <a:rPr lang="en-US" dirty="0"/>
              <a:t> </a:t>
            </a:r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IN" dirty="0"/>
              <a:t>Mechanical systems such as HVAC units, compressors, turbines, and industrial machines consume large amounts of energy. Inefficient operation increases operational costs and environmental impact. Organizations often lack advanced tools to </a:t>
            </a:r>
            <a:r>
              <a:rPr lang="en-IN" dirty="0" err="1"/>
              <a:t>analyze</a:t>
            </a:r>
            <a:r>
              <a:rPr lang="en-IN" dirty="0"/>
              <a:t> energy consumption patterns and identify opportunities for optimization.</a:t>
            </a:r>
          </a:p>
          <a:p>
            <a:pPr fontAlgn="base"/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pPr fontAlgn="base"/>
            <a:endParaRPr lang="en-US" dirty="0"/>
          </a:p>
          <a:p>
            <a:pPr fontAlgn="base"/>
            <a:r>
              <a:rPr lang="en-US" dirty="0"/>
              <a:t>Build an AI-powered Energy Efficiency Optimization Agent that analyzes mechanical system data and recommends improvements to reduce energy consumption. </a:t>
            </a:r>
          </a:p>
          <a:p>
            <a:pPr fontAlgn="base"/>
            <a:endParaRPr lang="en-US" dirty="0"/>
          </a:p>
          <a:p>
            <a:pPr marL="342900" indent="-342900" fontAlgn="base">
              <a:buAutoNum type="arabicPeriod"/>
            </a:pPr>
            <a:r>
              <a:rPr lang="en-US" dirty="0"/>
              <a:t>Energy Data Retrieval (RAG) :– Collect energy consumption data and operational parameters. </a:t>
            </a:r>
          </a:p>
          <a:p>
            <a:pPr marL="342900" indent="-342900" fontAlgn="base">
              <a:buAutoNum type="arabicPeriod"/>
            </a:pPr>
            <a:r>
              <a:rPr lang="en-US" dirty="0"/>
              <a:t>Efficiency Analysis :– Identify inefficiencies in machine operations. Optimization Recommendations :– Suggest operational adjustments or system improvements. </a:t>
            </a:r>
          </a:p>
          <a:p>
            <a:pPr marL="342900" indent="-342900" fontAlgn="base">
              <a:buAutoNum type="arabicPeriod"/>
            </a:pPr>
            <a:r>
              <a:rPr lang="en-US" dirty="0"/>
              <a:t>Energy Forecasting :– Predict future energy consumption trends. </a:t>
            </a:r>
          </a:p>
          <a:p>
            <a:pPr marL="342900" indent="-342900" fontAlgn="base">
              <a:buAutoNum type="arabicPeriod"/>
            </a:pPr>
            <a:r>
              <a:rPr lang="en-US" dirty="0"/>
              <a:t>Multi-Agent System • Energy Monitoring Agent – Collects energy consumption data. • Efficiency Analysis Agent – Detects inefficient operations. • Optimization Agent – Recommends energy-saving strategies. • Forecasting Agent – Predicts future energy usage. </a:t>
            </a:r>
          </a:p>
          <a:p>
            <a:pPr marL="342900" indent="-342900" fontAlgn="base">
              <a:buAutoNum type="arabicPeriod"/>
            </a:pPr>
            <a:r>
              <a:rPr lang="en-US" dirty="0"/>
              <a:t>Visualization Dashboard Display energy consumption trends, efficiency indicators, and optimization recommendations.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IN" dirty="0"/>
              <a:t>The </a:t>
            </a:r>
            <a:r>
              <a:rPr lang="en-IN" b="1" dirty="0"/>
              <a:t>AI Energy Efficiency Optimization Agent</a:t>
            </a:r>
            <a:r>
              <a:rPr lang="en-IN" dirty="0"/>
              <a:t> is an intelligent decision-support system designed to reduce energy consumption and improve the operational efficiency of mechanical systems such as HVAC units, compressors, turbines, pumps, and industrial machinery. It leverages </a:t>
            </a:r>
            <a:r>
              <a:rPr lang="en-IN" b="1" dirty="0"/>
              <a:t>IBM </a:t>
            </a:r>
            <a:r>
              <a:rPr lang="en-IN" b="1" dirty="0" err="1"/>
              <a:t>Langflow</a:t>
            </a:r>
            <a:r>
              <a:rPr lang="en-IN" b="1" dirty="0"/>
              <a:t>/IBM Orchestrate</a:t>
            </a:r>
            <a:r>
              <a:rPr lang="en-IN" dirty="0"/>
              <a:t>, </a:t>
            </a:r>
            <a:r>
              <a:rPr lang="en-IN" b="1" dirty="0"/>
              <a:t>Large Language Models (LLMs)</a:t>
            </a:r>
            <a:r>
              <a:rPr lang="en-IN" dirty="0"/>
              <a:t>, </a:t>
            </a:r>
            <a:r>
              <a:rPr lang="en-IN" b="1" dirty="0"/>
              <a:t>Retrieval-Augmented Generation (RAG)</a:t>
            </a:r>
            <a:r>
              <a:rPr lang="en-IN" dirty="0"/>
              <a:t>, and a </a:t>
            </a:r>
            <a:r>
              <a:rPr lang="en-IN" b="1" dirty="0"/>
              <a:t>Multi-Agent Architecture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energy data, identify inefficiencies, recommend optimization strategies, and forecast future energy usage.</a:t>
            </a:r>
          </a:p>
          <a:p>
            <a:endParaRPr lang="en-IN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Solution Workflow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Energy Data Collection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Retrieval-Augmented Generation (RAG) Multi-Agent Processing 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dirty="0"/>
              <a:t>Energy Monitoring Agent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dirty="0"/>
              <a:t>Efficiency Analysis Agent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dirty="0"/>
              <a:t>Optimization Agent</a:t>
            </a: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IN" dirty="0"/>
              <a:t>Forecasting Agent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AI-Based Analysis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Interactive Dashboard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Decision Support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/>
              <a:t>Technology Used</a:t>
            </a:r>
            <a:endParaRPr lang="en-IN" sz="2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 err="1"/>
              <a:t>Langflow</a:t>
            </a:r>
            <a:r>
              <a:rPr lang="en-US" sz="1800" b="1" dirty="0"/>
              <a:t> platform </a:t>
            </a:r>
            <a:r>
              <a:rPr lang="en-US" sz="1800" dirty="0"/>
              <a:t>-For designing and orchestrating multi-agent workflows visually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IBM Granite model </a:t>
            </a:r>
            <a:r>
              <a:rPr lang="en-US" sz="1800" dirty="0"/>
              <a:t>-  for </a:t>
            </a:r>
            <a:r>
              <a:rPr lang="en-US" sz="1800" dirty="0" err="1"/>
              <a:t>eg</a:t>
            </a:r>
            <a:r>
              <a:rPr lang="en-US" sz="1800" dirty="0"/>
              <a:t> – ibm-granite-3-2-8b – For natural language understanding, reasoning, and personalization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Cloud </a:t>
            </a:r>
            <a:r>
              <a:rPr lang="en-US" sz="1800"/>
              <a:t>– It provides the infrastructure to build, deploy, and scale the Nutrition Agent efficiently. IBM Cloud enables a </a:t>
            </a:r>
            <a:r>
              <a:rPr lang="en-US" sz="1800" b="1"/>
              <a:t>reliable, secure, and scalable environment</a:t>
            </a:r>
            <a:r>
              <a:rPr lang="en-US" sz="1800"/>
              <a:t> for deploying the Nutrition Agent.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RAG– </a:t>
            </a:r>
            <a:r>
              <a:rPr lang="en-US" sz="1800"/>
              <a:t>RAG to </a:t>
            </a:r>
            <a:r>
              <a:rPr lang="en-US" sz="1800" b="1"/>
              <a:t>fetch real data first, then generate intelligent answers</a:t>
            </a:r>
            <a:r>
              <a:rPr lang="en-US" sz="1800"/>
              <a:t>, making the Nutrition Agent more trustworthy and effective.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/>
              <a:t>IBM Watsonx.ai - </a:t>
            </a:r>
            <a:r>
              <a:rPr lang="en-US" sz="1800"/>
              <a:t>For model deployment, embeddings, and AI governance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/>
              <a:t>Vector Database </a:t>
            </a:r>
            <a:r>
              <a:rPr lang="en-IN" sz="1800"/>
              <a:t>(FAISS/Chroma) – For RAG-based nutritional data retrieval</a:t>
            </a: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/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Orchestrate component</a:t>
            </a:r>
            <a:r>
              <a:rPr lang="en-US" sz="2400" b="1" dirty="0">
                <a:sym typeface="Times New Roman"/>
              </a:rPr>
              <a:t>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1) Chat Input </a:t>
            </a:r>
            <a:r>
              <a:rPr lang="en-US" dirty="0"/>
              <a:t>– Interface where users enter their queries, preferences, or meal details (text/voice/image).</a:t>
            </a:r>
          </a:p>
          <a:p>
            <a:endParaRPr lang="en-US" dirty="0"/>
          </a:p>
          <a:p>
            <a:r>
              <a:rPr lang="en-US" b="1" dirty="0"/>
              <a:t>2) IBM </a:t>
            </a:r>
            <a:r>
              <a:rPr lang="en-US" b="1" dirty="0" err="1"/>
              <a:t>watsonx</a:t>
            </a:r>
            <a:r>
              <a:rPr lang="en-US" b="1" dirty="0"/>
              <a:t> AI Agent </a:t>
            </a:r>
            <a:r>
              <a:rPr lang="en-US" dirty="0"/>
              <a:t>- Processes user input using Granite models to generate personalized nutrition insights and recommendations. </a:t>
            </a:r>
          </a:p>
          <a:p>
            <a:endParaRPr lang="en-US" dirty="0"/>
          </a:p>
          <a:p>
            <a:r>
              <a:rPr lang="en-US" b="1" dirty="0"/>
              <a:t>3) Name of IBM Granite model - </a:t>
            </a:r>
            <a:r>
              <a:rPr lang="en-US" dirty="0"/>
              <a:t>Granite-4.0-8B-Instruct → Fast, efficient for real-time diet recommendations</a:t>
            </a:r>
          </a:p>
          <a:p>
            <a:endParaRPr lang="en-US" dirty="0"/>
          </a:p>
          <a:p>
            <a:r>
              <a:rPr lang="en-US" b="1" dirty="0"/>
              <a:t>4) Chat output -</a:t>
            </a:r>
            <a:r>
              <a:rPr lang="en-US" dirty="0"/>
              <a:t>Displays AI-generated responses such as diet plans, nutritional analysis, and health suggestions. </a:t>
            </a:r>
          </a:p>
          <a:p>
            <a:endParaRPr lang="en-US" dirty="0"/>
          </a:p>
          <a:p>
            <a:r>
              <a:rPr lang="en-US" b="1" dirty="0"/>
              <a:t>5) </a:t>
            </a:r>
            <a:r>
              <a:rPr lang="en-US" b="1" dirty="0">
                <a:highlight>
                  <a:srgbClr val="FFFF00"/>
                </a:highlight>
              </a:rPr>
              <a:t>File component - </a:t>
            </a:r>
            <a:r>
              <a:rPr lang="en-US" dirty="0">
                <a:highlight>
                  <a:srgbClr val="FFFF00"/>
                </a:highlight>
              </a:rPr>
              <a:t>Stores and retrieves user data, meal logs, and nutritional datasets for analysis and tracking.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6) </a:t>
            </a:r>
            <a:r>
              <a:rPr lang="en-US" dirty="0">
                <a:highlight>
                  <a:srgbClr val="FFFF00"/>
                </a:highlight>
              </a:rPr>
              <a:t>Add name of any other component used.</a:t>
            </a:r>
          </a:p>
          <a:p>
            <a:pPr marL="342900" indent="-342900">
              <a:buAutoNum type="arabicParenR" startAt="3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Agent Instructions Screenshot-</a:t>
            </a:r>
            <a:endParaRPr sz="2400" b="1">
              <a:sym typeface="Times New Roman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C7FC88A-B369-455A-F57A-122CC34E52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34" y="928386"/>
            <a:ext cx="10937928" cy="59345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061DBE-0CFD-7DEC-A1AF-3E0B0F71A5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90" y="703989"/>
            <a:ext cx="11027374" cy="615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ym typeface="Times New Roman"/>
              </a:rPr>
              <a:t>Prompt with output Screenshot: 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C055-9DE8-731B-4573-E65371EBEDCA}"/>
              </a:ext>
            </a:extLst>
          </p:cNvPr>
          <p:cNvSpPr txBox="1"/>
          <p:nvPr/>
        </p:nvSpPr>
        <p:spPr>
          <a:xfrm>
            <a:off x="1375037" y="1172400"/>
            <a:ext cx="849195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-Use</a:t>
            </a:r>
            <a:r>
              <a:rPr lang="en-US" sz="2000">
                <a:solidFill>
                  <a:srgbClr val="FF0000"/>
                </a:solidFill>
              </a:rPr>
              <a:t> different slides for multiple screenshots </a:t>
            </a:r>
            <a:endParaRPr lang="en-US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A8F3D0-52BA-100E-3FD8-228494F483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3" y="1709798"/>
            <a:ext cx="9628931" cy="4962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0ECA1F-B0AE-FCA6-CD2B-0AE81597A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797440"/>
            <a:ext cx="12191999" cy="6029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073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BC1F377F-D2E8-46B5-C7F3-C58589F45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189D03E3-C782-BAA0-25CD-AC8F93A156A1}"/>
              </a:ext>
            </a:extLst>
          </p:cNvPr>
          <p:cNvSpPr/>
          <p:nvPr/>
        </p:nvSpPr>
        <p:spPr>
          <a:xfrm>
            <a:off x="537590" y="381112"/>
            <a:ext cx="7616194" cy="390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 dirty="0">
                <a:sym typeface="Times New Roman"/>
              </a:rPr>
              <a:t>Frontend : 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DC055-9DE8-731B-4573-E65371EBEDCA}"/>
              </a:ext>
            </a:extLst>
          </p:cNvPr>
          <p:cNvSpPr txBox="1"/>
          <p:nvPr/>
        </p:nvSpPr>
        <p:spPr>
          <a:xfrm>
            <a:off x="1375037" y="1172400"/>
            <a:ext cx="761421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/>
              <a:t>-</a:t>
            </a:r>
            <a:r>
              <a:rPr lang="en-US" sz="2000" dirty="0">
                <a:solidFill>
                  <a:srgbClr val="FF0000"/>
                </a:solidFill>
              </a:rPr>
              <a:t> Put multiple screenshots for multiple prompts and outputs </a:t>
            </a:r>
          </a:p>
          <a:p>
            <a:pPr marL="342900" indent="-342900">
              <a:buFont typeface="Calibri"/>
              <a:buChar char="-"/>
            </a:pPr>
            <a:r>
              <a:rPr lang="en-US" sz="2000" dirty="0">
                <a:solidFill>
                  <a:srgbClr val="FF0000"/>
                </a:solidFill>
              </a:rPr>
              <a:t>All the content screenshots should be clearly visible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62677F-91DC-403F-18B4-F67C6C461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280" y="771747"/>
            <a:ext cx="9677148" cy="576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156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Orchestrate architecture blueprint</a:t>
            </a:r>
            <a:endParaRPr lang="en-US" sz="2400">
              <a:solidFill>
                <a:schemeClr val="dk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932CE2-F219-0CA8-0102-55B8C682B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0" y="675732"/>
            <a:ext cx="11468100" cy="61817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561920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Agentic AI plays a central role in the proposed </a:t>
            </a:r>
            <a:r>
              <a:rPr lang="en-IN" b="1" dirty="0"/>
              <a:t>AI Energy Efficiency Optimization Agent</a:t>
            </a:r>
            <a:r>
              <a:rPr lang="en-IN" dirty="0"/>
              <a:t> by enabling autonomous, intelligent, and collaborative decision-making for mechanical systems such as HVAC units, compressors, turbines, and industrial machines. Instead of relying on a single AI model, the system employs multiple specialized AI agents that work together to monitor energy usage, </a:t>
            </a:r>
            <a:r>
              <a:rPr lang="en-IN" dirty="0" err="1"/>
              <a:t>analyze</a:t>
            </a:r>
            <a:r>
              <a:rPr lang="en-IN" dirty="0"/>
              <a:t> system performance, recommend optimizations, and predict future energy consumption.</a:t>
            </a:r>
          </a:p>
          <a:p>
            <a:r>
              <a:rPr lang="en-IN" dirty="0"/>
              <a:t>The </a:t>
            </a:r>
            <a:r>
              <a:rPr lang="en-IN" b="1" dirty="0"/>
              <a:t>Energy Monitoring Agent</a:t>
            </a:r>
            <a:r>
              <a:rPr lang="en-IN" dirty="0"/>
              <a:t> continuously collects real-time and historical energy consumption data along with operational parameters. The </a:t>
            </a:r>
            <a:r>
              <a:rPr lang="en-IN" b="1" dirty="0"/>
              <a:t>Efficiency Analysis Agent</a:t>
            </a:r>
            <a:r>
              <a:rPr lang="en-IN" dirty="0"/>
              <a:t> processes this information to identify abnormal energy usage, inefficient operating conditions, and potential performance issues. Based on these findings, the </a:t>
            </a:r>
            <a:r>
              <a:rPr lang="en-IN" b="1" dirty="0"/>
              <a:t>Optimization Agent</a:t>
            </a:r>
            <a:r>
              <a:rPr lang="en-IN" dirty="0"/>
              <a:t> generates practical recommendations, including operational adjustments, preventive maintenance, and energy-saving strategies to improve system efficiency. Finally, the </a:t>
            </a:r>
            <a:r>
              <a:rPr lang="en-IN" b="1" dirty="0"/>
              <a:t>Forecasting Agent</a:t>
            </a:r>
            <a:r>
              <a:rPr lang="en-IN" dirty="0"/>
              <a:t> predicts future energy demand using historical trends, enabling proactive planning and resource management.</a:t>
            </a:r>
          </a:p>
          <a:p>
            <a:r>
              <a:rPr lang="en-IN" dirty="0"/>
              <a:t>To enhance decision-making, the system integrates </a:t>
            </a:r>
            <a:r>
              <a:rPr lang="en-IN" b="1" dirty="0"/>
              <a:t>Retrieval-Augmented Generation (RAG)</a:t>
            </a:r>
            <a:r>
              <a:rPr lang="en-IN" dirty="0"/>
              <a:t>, allowing agents to retrieve relevant equipment manuals, maintenance records, and energy standards before generating recommendations. This ensures responses are accurate, context-aware, and evidence-based. By combining autonomous monitoring, collaborative analysis, predictive intelligence, and explainable recommendations, Agentic AI helps organizations reduce energy consumption, lower operational costs, improve equipment reliability, and support long-term sustainability goals while minimizing the need for constant human intervention.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5415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dirty="0"/>
              <a:t>The solution combines </a:t>
            </a:r>
            <a:r>
              <a:rPr lang="en-IN" sz="1800" b="1" dirty="0"/>
              <a:t>Agentic AI</a:t>
            </a:r>
            <a:r>
              <a:rPr lang="en-IN" sz="1800" dirty="0"/>
              <a:t>, </a:t>
            </a:r>
            <a:r>
              <a:rPr lang="en-IN" sz="1800" b="1" dirty="0"/>
              <a:t>Retrieval-Augmented Generation (RAG)</a:t>
            </a:r>
            <a:r>
              <a:rPr lang="en-IN" sz="1800" dirty="0"/>
              <a:t>, and </a:t>
            </a:r>
            <a:r>
              <a:rPr lang="en-IN" sz="1800" b="1" dirty="0"/>
              <a:t>multi-agent collaboration</a:t>
            </a:r>
            <a:r>
              <a:rPr lang="en-IN" sz="1800" dirty="0"/>
              <a:t> to deliver intelligent energy optimization. Unlike traditional monitoring systems, it not only detects inefficiencies but also provides context-aware recommendations, predicts future energy consumption, and explains decisions using technical documentation, enabling proactive, data-driven energy management and improved sustainability.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https://github.com/amrut20562/AI-Energy-Efficiency-Optimization-Agent.git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i="0" u="none" strike="noStrike" cap="none" dirty="0">
                <a:solidFill>
                  <a:srgbClr val="2B3541"/>
                </a:solidFill>
                <a:latin typeface="+mj-lt"/>
                <a:ea typeface="Times New Roman"/>
                <a:cs typeface="Times New Roman"/>
                <a:sym typeface="Times New Roman"/>
              </a:rPr>
              <a:t>The system can be enhanced by integrating real-time IoT sensors, digital twins, and edge AI for continuous monitoring and faster decision-making. Future versions can support automated control of mechanical systems, predictive maintenance, carbon footprint tracking, renewable energy optimization, and integration with Building Management Systems (BMS), SCADA, and ERP platforms for enterprise-scale energy management.</a:t>
            </a:r>
            <a:endParaRPr sz="1850" i="0" u="none" strike="noStrike" cap="none" dirty="0">
              <a:solidFill>
                <a:srgbClr val="000000"/>
              </a:solidFill>
              <a:latin typeface="+mj-lt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400" b="1" dirty="0"/>
          </a:p>
          <a:p>
            <a:r>
              <a:rPr lang="en-US" sz="2400" b="1" dirty="0"/>
              <a:t>Certificates Earned:</a:t>
            </a:r>
          </a:p>
          <a:p>
            <a:pPr algn="ctr"/>
            <a:endParaRPr lang="en-US"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037CFD0-B7FF-D9BE-3433-88E5844EF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442" y="1343396"/>
            <a:ext cx="7075219" cy="53092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059930-F196-6C10-ABC8-1A09832C7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156" y="1605280"/>
            <a:ext cx="6467878" cy="472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ertificate with red text&#10;&#10;AI-generated content may be incorrect.">
            <a:extLst>
              <a:ext uri="{FF2B5EF4-FFF2-40B4-BE49-F238E27FC236}">
                <a16:creationId xmlns:a16="http://schemas.microsoft.com/office/drawing/2014/main" id="{099C3698-991D-7A38-C456-893C84C23F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7" b="-275"/>
          <a:stretch>
            <a:fillRect/>
          </a:stretch>
        </p:blipFill>
        <p:spPr>
          <a:xfrm>
            <a:off x="2512736" y="1712637"/>
            <a:ext cx="7177553" cy="46585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3E8878-A928-56FC-5ADD-0203BBC6B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3626" y="903499"/>
            <a:ext cx="8961795" cy="549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3001</TotalTime>
  <Words>1019</Words>
  <Application>Microsoft Office PowerPoint</Application>
  <PresentationFormat>Widescreen</PresentationFormat>
  <Paragraphs>106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amrut more</cp:lastModifiedBy>
  <cp:revision>99</cp:revision>
  <dcterms:created xsi:type="dcterms:W3CDTF">2025-07-08T05:06:56Z</dcterms:created>
  <dcterms:modified xsi:type="dcterms:W3CDTF">2026-07-18T09:43:03Z</dcterms:modified>
</cp:coreProperties>
</file>